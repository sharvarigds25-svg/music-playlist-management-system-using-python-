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playlist manager built on a doubly linked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core operations: add, delete, search, traverse.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Trade-off: one extra pointer per node buys O(1) previous and simpler deletion.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 and tail give O(1) access to both ends. The current pointer tracks the song now playing.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Song is the node. Playlist holds head, tail, current and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Ends are O(1) thanks to head and tail. Middle insertion is O(n) because of the walk; it starts from the closer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Deletion is a four-pointer update. The edge cases are deleting the head or the 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and previous are O(1) because of the current pointer and the two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search and position-based operations need a scan.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summary and possible extensions.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2651760" cy="2651760"/>
          </a:xfrm>
          <a:prstGeom prst="ellipse">
            <a:avLst/>
          </a:prstGeom>
          <a:solidFill>
            <a:srgbClr val="FF5D8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914400" cy="914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89520" y="3200400"/>
            <a:ext cx="1005840" cy="100584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09728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 Playlist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9718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delete, search and traverse songs with a doubly linked list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does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783080"/>
            <a:ext cx="731520" cy="731520"/>
          </a:xfrm>
          <a:prstGeom prst="ellipse">
            <a:avLst/>
          </a:prstGeom>
          <a:solidFill>
            <a:srgbClr val="FF5D8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011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song at the start, at the end, or at any position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37760" y="1783080"/>
            <a:ext cx="731520" cy="731520"/>
          </a:xfrm>
          <a:prstGeom prst="ellipse">
            <a:avLst/>
          </a:prstGeom>
          <a:solidFill>
            <a:srgbClr val="7C5C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965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5216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5852160" y="2011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song by title or by position and relink neighbors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31546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3566160"/>
            <a:ext cx="731520" cy="731520"/>
          </a:xfrm>
          <a:prstGeom prst="ellipse">
            <a:avLst/>
          </a:prstGeom>
          <a:solidFill>
            <a:srgbClr val="7C5C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490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3794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song by exact title or list all songs by an artist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663440" y="31546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37760" y="3566160"/>
            <a:ext cx="731520" cy="731520"/>
          </a:xfrm>
          <a:prstGeom prst="ellipse">
            <a:avLst/>
          </a:prstGeom>
          <a:solidFill>
            <a:srgbClr val="FF5D8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7490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5216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Traverse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5852160" y="3794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the next or previous song, or display the list in either direction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doubly linked list?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Singly linked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pointer per node (next)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step back to the previous song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needs a trailing pointer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display needs extra work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1B1230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Doubly linked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1031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pointers per node (prev, next)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song in O(1)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any node once found, no trailing pointer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and reverse display for free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list is structured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2423160"/>
            <a:ext cx="731520" cy="640080"/>
          </a:xfrm>
          <a:prstGeom prst="roundRect">
            <a:avLst>
              <a:gd name="adj" fmla="val 14286"/>
            </a:avLst>
          </a:prstGeom>
          <a:solidFill>
            <a:srgbClr val="D9D0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1B1230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874520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Blinding Lights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7614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Weeknd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3017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D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3017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D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94760" y="219456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FF5D8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840480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Levitating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7614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Lipa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3017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D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017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D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219456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1B1230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806440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Bohemian Rhapsody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27614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3017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D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3017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D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26680" y="2423160"/>
            <a:ext cx="731520" cy="640080"/>
          </a:xfrm>
          <a:prstGeom prst="roundRect">
            <a:avLst>
              <a:gd name="adj" fmla="val 14286"/>
            </a:avLst>
          </a:prstGeom>
          <a:solidFill>
            <a:srgbClr val="D9D0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26680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444752" y="2606040"/>
            <a:ext cx="356616" cy="0"/>
          </a:xfrm>
          <a:prstGeom prst="line">
            <a:avLst/>
          </a:prstGeom>
          <a:noFill/>
          <a:ln w="25400">
            <a:solidFill>
              <a:srgbClr val="7C5CF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44752" y="2926080"/>
            <a:ext cx="356616" cy="0"/>
          </a:xfrm>
          <a:prstGeom prst="line">
            <a:avLst/>
          </a:prstGeom>
          <a:noFill/>
          <a:ln w="25400">
            <a:solidFill>
              <a:srgbClr val="FF5D8F"/>
            </a:solidFill>
            <a:prstDash val="solid"/>
            <a:headEnd type="triangle"/>
          </a:ln>
        </p:spPr>
      </p:sp>
      <p:sp>
        <p:nvSpPr>
          <p:cNvPr id="24" name="Shape 22"/>
          <p:cNvSpPr/>
          <p:nvPr/>
        </p:nvSpPr>
        <p:spPr>
          <a:xfrm>
            <a:off x="3410712" y="2606040"/>
            <a:ext cx="356616" cy="0"/>
          </a:xfrm>
          <a:prstGeom prst="line">
            <a:avLst/>
          </a:prstGeom>
          <a:noFill/>
          <a:ln w="25400">
            <a:solidFill>
              <a:srgbClr val="7C5C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410712" y="2926080"/>
            <a:ext cx="356616" cy="0"/>
          </a:xfrm>
          <a:prstGeom prst="line">
            <a:avLst/>
          </a:prstGeom>
          <a:noFill/>
          <a:ln w="25400">
            <a:solidFill>
              <a:srgbClr val="FF5D8F"/>
            </a:solidFill>
            <a:prstDash val="solid"/>
            <a:headEnd type="triangle"/>
          </a:ln>
        </p:spPr>
      </p:sp>
      <p:sp>
        <p:nvSpPr>
          <p:cNvPr id="26" name="Shape 24"/>
          <p:cNvSpPr/>
          <p:nvPr/>
        </p:nvSpPr>
        <p:spPr>
          <a:xfrm>
            <a:off x="5376672" y="2606040"/>
            <a:ext cx="356616" cy="0"/>
          </a:xfrm>
          <a:prstGeom prst="line">
            <a:avLst/>
          </a:prstGeom>
          <a:noFill/>
          <a:ln w="25400">
            <a:solidFill>
              <a:srgbClr val="7C5CF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376672" y="2926080"/>
            <a:ext cx="356616" cy="0"/>
          </a:xfrm>
          <a:prstGeom prst="line">
            <a:avLst/>
          </a:prstGeom>
          <a:noFill/>
          <a:ln w="25400">
            <a:solidFill>
              <a:srgbClr val="FF5D8F"/>
            </a:solidFill>
            <a:prstDash val="solid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7342632" y="2606040"/>
            <a:ext cx="356616" cy="0"/>
          </a:xfrm>
          <a:prstGeom prst="line">
            <a:avLst/>
          </a:prstGeom>
          <a:noFill/>
          <a:ln w="25400">
            <a:solidFill>
              <a:srgbClr val="7C5CF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42632" y="2926080"/>
            <a:ext cx="356616" cy="0"/>
          </a:xfrm>
          <a:prstGeom prst="line">
            <a:avLst/>
          </a:prstGeom>
          <a:noFill/>
          <a:ln w="25400">
            <a:solidFill>
              <a:srgbClr val="FF5D8F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2148840" y="16002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148840" y="1600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80760" y="16002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080760" y="1600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0" y="35204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5D8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114800" y="3520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pPr algn="ctr" indent="0" marL="0">
              <a:buNone/>
            </a:pPr>
            <a:r>
              <a:rPr lang="en-US" sz="14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arrows run forward   </a:t>
            </a:r>
            <a:pPr algn="ctr" indent="0" marL="0">
              <a:buNone/>
            </a:pPr>
            <a:r>
              <a:rPr lang="en-US" sz="1400" b="1" dirty="0">
                <a:solidFill>
                  <a:srgbClr val="FF5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</a:t>
            </a:r>
            <a:pPr algn="ctr" indent="0" marL="0">
              <a:buNone/>
            </a:pPr>
            <a:r>
              <a:rPr lang="en-US" sz="14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arrows run backward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design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FF5D8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28216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600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Song (node)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317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1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song name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1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artist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performer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1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seconds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1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link to previous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1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link to next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37760" y="1600200"/>
            <a:ext cx="502920" cy="502920"/>
          </a:xfrm>
          <a:prstGeom prst="ellipse">
            <a:avLst/>
          </a:prstGeom>
          <a:solidFill>
            <a:srgbClr val="7C5C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172821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600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Playlist (list)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3317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1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first song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1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last song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1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now playing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1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song count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1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playlist name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 song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5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at end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node's prev = tail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tail.next = new node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= new node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7472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at start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9260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node's next = head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head.prev = new node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= new node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6364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5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at position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9260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to the node at that index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new node between neighbors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both directions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Deleting and searching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1B1230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Delete: relink the neighbors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node.prev: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node.prev.next = node.next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 head = node.next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node.next: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node.next.prev = node.prev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 tail = node.prev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03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Head, tail and current are fixed automatically when they are the deleted node.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Search: linear scan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1031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title: first case-insensitive match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artist: every partial match, returned as a list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head and follow next until found or NULL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run in O(n)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Traversing the playlist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1B1230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92808" y="1874520"/>
            <a:ext cx="237744" cy="0"/>
          </a:xfrm>
          <a:prstGeom prst="line">
            <a:avLst/>
          </a:prstGeom>
          <a:noFill/>
          <a:ln w="25400">
            <a:solidFill>
              <a:srgbClr val="7C5CFF"/>
            </a:solidFill>
            <a:prstDash val="solid"/>
            <a:headEnd type="triangl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148840" y="146304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1B1230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148840" y="14630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84448" y="1874520"/>
            <a:ext cx="237744" cy="0"/>
          </a:xfrm>
          <a:prstGeom prst="line">
            <a:avLst/>
          </a:prstGeom>
          <a:noFill/>
          <a:ln w="25400">
            <a:solidFill>
              <a:srgbClr val="7C5CFF"/>
            </a:solidFill>
            <a:prstDash val="solid"/>
            <a:headEnd type="triangl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40480" y="146304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FF5D8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840480" y="14630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3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276088" y="1874520"/>
            <a:ext cx="237744" cy="0"/>
          </a:xfrm>
          <a:prstGeom prst="line">
            <a:avLst/>
          </a:prstGeom>
          <a:noFill/>
          <a:ln w="25400">
            <a:solidFill>
              <a:srgbClr val="7C5CFF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32120" y="146304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1B1230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532120" y="14630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4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67728" y="1874520"/>
            <a:ext cx="237744" cy="0"/>
          </a:xfrm>
          <a:prstGeom prst="line">
            <a:avLst/>
          </a:prstGeom>
          <a:noFill/>
          <a:ln w="25400">
            <a:solidFill>
              <a:srgbClr val="7C5CFF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23760" y="146304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1B1230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223760" y="14630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2331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playing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8580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next_song()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520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= current.next, stops at the tail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29260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47472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prev_song()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3520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= current.prev, stops at the head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26364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display()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3520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head to tail, or tail to head in reverse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complexity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2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at start /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5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at position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5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by title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5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at position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5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title / artist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5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/ previous song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5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forward / reverse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5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309360" y="1280160"/>
            <a:ext cx="2377440" cy="3072384"/>
          </a:xfrm>
          <a:prstGeom prst="roundRect">
            <a:avLst>
              <a:gd name="adj" fmla="val 4615"/>
            </a:avLst>
          </a:prstGeom>
          <a:solidFill>
            <a:srgbClr val="1B1230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92240" y="1645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5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492240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space, one node per song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3200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walks from the nearer end, cutting position lookups roughly in half.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2A1D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 with head, tail and current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delete, search and traverse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at both ends and for next/prev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CLI for testing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2A1D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3776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1031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list for repeat-all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and play queue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map index for O(1) title lookup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load playlists from a file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Playlist Management System</dc:title>
  <dc:subject>PptxGenJS Presentation</dc:subject>
  <dc:creator>PptxGenJS</dc:creator>
  <cp:lastModifiedBy>PptxGenJS</cp:lastModifiedBy>
  <cp:revision>1</cp:revision>
  <dcterms:created xsi:type="dcterms:W3CDTF">2026-09-21T17:01:00Z</dcterms:created>
  <dcterms:modified xsi:type="dcterms:W3CDTF">2026-09-21T17:01:00Z</dcterms:modified>
</cp:coreProperties>
</file>